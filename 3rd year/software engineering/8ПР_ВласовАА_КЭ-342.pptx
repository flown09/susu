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4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8AE71-6786-4A0D-B058-60D49C938CB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48D98-CDBD-4DFA-9E63-2D2988AB0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094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2800" dirty="0">
                <a:effectLst/>
              </a:rPr>
              <a:t>Сервис технической поддержки интернет-провайдера — это система, предназначенная для помощи клиентам в решении их вопросов и проблем, связанных с услугами провайдера. Она автоматизирует процесс обработки запросов, что позволяет быстро и эффективно отвечать на типовые вопросы, а при необходимости подключать специалистов для более детального рассмотрения.</a:t>
            </a:r>
          </a:p>
          <a:p>
            <a:r>
              <a:rPr lang="ru-RU" sz="2800" dirty="0">
                <a:effectLst/>
              </a:rPr>
              <a:t>С системой взаимодействуют три актера. </a:t>
            </a:r>
            <a:r>
              <a:rPr lang="ru-RU" sz="2800" b="1" dirty="0">
                <a:effectLst/>
              </a:rPr>
              <a:t>Клиент</a:t>
            </a:r>
            <a:r>
              <a:rPr lang="ru-RU" sz="2800" dirty="0">
                <a:effectLst/>
              </a:rPr>
              <a:t> обращается в сервис с вопросом или проблемой, например, о неполадках с интернетом или об условиях оплаты. </a:t>
            </a:r>
            <a:r>
              <a:rPr lang="ru-RU" sz="2800" b="1" dirty="0">
                <a:effectLst/>
              </a:rPr>
              <a:t>Сотрудник технической поддержки</a:t>
            </a:r>
            <a:r>
              <a:rPr lang="ru-RU" sz="2800" dirty="0">
                <a:effectLst/>
              </a:rPr>
              <a:t> занимается техническими аспектами, такими как настройка оборудования или устранение сбоев. </a:t>
            </a:r>
            <a:r>
              <a:rPr lang="ru-RU" sz="2800" b="1" dirty="0">
                <a:effectLst/>
              </a:rPr>
              <a:t>Сотрудник по работе с договорами</a:t>
            </a:r>
            <a:r>
              <a:rPr lang="ru-RU" sz="2800" dirty="0">
                <a:effectLst/>
              </a:rPr>
              <a:t> отвечает за вопросы, связанные с оплатой, подключением дополнительных услуг и изменением тарифов.</a:t>
            </a:r>
          </a:p>
          <a:p>
            <a:r>
              <a:rPr lang="ru-RU" sz="2800" dirty="0">
                <a:effectLst/>
              </a:rPr>
              <a:t>Процесс начинается с того, что клиент задает вопрос через сервис. Система автоматически классифицирует его по категориям: технический, об оплате, о подключении услуг или о тарификации. Затем она ищет готовый ответ в базе данных. Если ответ найден, клиент получает его сразу. Если нет — система задает уточняющие вопросы, а при необходимости переадресует заявку сотруднику. Сотрудники, получая заявку, изучают историю сообщений, отвечают клиенту и, в зависимости от роли</a:t>
            </a:r>
            <a:r>
              <a:rPr lang="ru-RU" sz="2800">
                <a:effectLst/>
              </a:rPr>
              <a:t>, выполняют </a:t>
            </a:r>
            <a:r>
              <a:rPr lang="ru-RU" sz="2800" dirty="0">
                <a:effectLst/>
              </a:rPr>
              <a:t>нужные действия: от оформления выезда инженера до изменения статуса оплаты.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6FDB28-68C9-44A6-AF06-4E0C8633561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174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4000" dirty="0"/>
              <a:t>Эта диаграмма классов описывает систему поддержки клиентов, где клиенты задают вопросы и общаются с сотрудниками через интерфейсы. </a:t>
            </a:r>
            <a:r>
              <a:rPr lang="ru-RU" sz="4000" b="1" dirty="0"/>
              <a:t>Клиенты </a:t>
            </a:r>
            <a:r>
              <a:rPr lang="ru-RU" sz="4000" dirty="0"/>
              <a:t>имеют атрибуты вроде адреса, параметров подключения и статуса оплаты, и могут через интерфейс "</a:t>
            </a:r>
            <a:r>
              <a:rPr lang="ru-RU" sz="4000" dirty="0" err="1"/>
              <a:t>ClientInterface</a:t>
            </a:r>
            <a:r>
              <a:rPr lang="ru-RU" sz="4000" dirty="0"/>
              <a:t>" создавать вопросы, отвечать на уточнения и отправлять </a:t>
            </a:r>
            <a:r>
              <a:rPr lang="ru-RU" sz="4000" b="1" dirty="0"/>
              <a:t>сообщения</a:t>
            </a:r>
            <a:r>
              <a:rPr lang="ru-RU" sz="4000" dirty="0"/>
              <a:t>. </a:t>
            </a:r>
            <a:r>
              <a:rPr lang="ru-RU" sz="4000" b="1" dirty="0"/>
              <a:t>Сотрудники </a:t>
            </a:r>
            <a:r>
              <a:rPr lang="ru-RU" sz="4000" dirty="0"/>
              <a:t>через интерфейс "</a:t>
            </a:r>
            <a:r>
              <a:rPr lang="ru-RU" sz="4000" dirty="0" err="1"/>
              <a:t>EmployeeInterface</a:t>
            </a:r>
            <a:r>
              <a:rPr lang="ru-RU" sz="4000" dirty="0"/>
              <a:t>" просматривают историю сообщений, отвечают на вопросы, планируют визиты инженеров и управляют данными клиентов через </a:t>
            </a:r>
            <a:r>
              <a:rPr lang="ru-RU" sz="4000" b="1" dirty="0"/>
              <a:t>контролирующий класс</a:t>
            </a:r>
            <a:r>
              <a:rPr lang="ru-RU" sz="4000" dirty="0"/>
              <a:t> "</a:t>
            </a:r>
            <a:r>
              <a:rPr lang="en-US" sz="4000" dirty="0" err="1"/>
              <a:t>SupportController</a:t>
            </a:r>
            <a:r>
              <a:rPr lang="ru-RU" sz="4000" dirty="0"/>
              <a:t>". </a:t>
            </a:r>
            <a:r>
              <a:rPr lang="ru-RU" sz="4000" b="1" dirty="0"/>
              <a:t>Вопросы</a:t>
            </a:r>
            <a:r>
              <a:rPr lang="ru-RU" sz="4000" dirty="0"/>
              <a:t> клиентов обрабатывает </a:t>
            </a:r>
            <a:r>
              <a:rPr lang="ru-RU" sz="4000" b="1" dirty="0"/>
              <a:t>ИИ-агент</a:t>
            </a:r>
            <a:r>
              <a:rPr lang="ru-RU" sz="4000" dirty="0"/>
              <a:t>, который классифицирует их, задает уточнения, перенаправляет сложные случаи сотрудникам или отвечает сам. Все действия в системе фиксируются с помощью уникальных идентификаторов и временных меток для отслеживания запросов.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6FDB28-68C9-44A6-AF06-4E0C8633561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174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F8FAFF"/>
                </a:solidFill>
                <a:effectLst/>
                <a:latin typeface="DeepSeek-CJK-patch"/>
              </a:rPr>
              <a:t>Диаграмма деятельности иллюстрирует процесс классификации вопросов клиентов: система получает текст вопроса, выполняет его предобработку, выделяет ключевые слова и присваивает категорию. Это позволяет автоматически направлять вопросы сотрудникам или генерировать ответы через ИИ.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3134FF-1705-44B1-A6C1-B7691A03A86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087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F8FAFF"/>
                </a:solidFill>
                <a:effectLst/>
                <a:latin typeface="DeepSeek-CJK-patch"/>
              </a:rPr>
              <a:t>Диаграмма последовательности показывает, как сотрудник взаимодействует с контроллером поддержки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 </a:t>
            </a:r>
            <a:r>
              <a:rPr lang="ru-RU" b="0" i="0" dirty="0">
                <a:solidFill>
                  <a:srgbClr val="F8FAFF"/>
                </a:solidFill>
                <a:effectLst/>
                <a:latin typeface="DeepSeek-CJK-patch"/>
              </a:rPr>
              <a:t>для изменения статуса оплаты клиента. Сотрудник принимает вопрос через метод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, </a:t>
            </a:r>
            <a:r>
              <a:rPr lang="ru-RU" b="0" i="0" dirty="0">
                <a:solidFill>
                  <a:srgbClr val="F8FAFF"/>
                </a:solidFill>
                <a:effectLst/>
                <a:latin typeface="DeepSeek-CJK-patch"/>
              </a:rPr>
              <a:t>инициирует изменение статуса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, </a:t>
            </a:r>
            <a:r>
              <a:rPr lang="ru-RU" b="0" i="0" dirty="0">
                <a:solidFill>
                  <a:srgbClr val="F8FAFF"/>
                </a:solidFill>
                <a:effectLst/>
                <a:latin typeface="DeepSeek-CJK-patch"/>
              </a:rPr>
              <a:t>после чего контроллер обновляет атрибут </a:t>
            </a:r>
            <a:r>
              <a:rPr lang="en-US" dirty="0" err="1"/>
              <a:t>paymentStatus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 </a:t>
            </a:r>
            <a:r>
              <a:rPr lang="ru-RU" b="0" i="0" dirty="0">
                <a:solidFill>
                  <a:srgbClr val="F8FAFF"/>
                </a:solidFill>
                <a:effectLst/>
                <a:latin typeface="DeepSeek-CJK-patch"/>
              </a:rPr>
              <a:t> с </a:t>
            </a:r>
            <a:r>
              <a:rPr lang="en-US" dirty="0"/>
              <a:t>unpaid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 </a:t>
            </a:r>
            <a:r>
              <a:rPr lang="ru-RU" b="0" i="0" dirty="0">
                <a:solidFill>
                  <a:srgbClr val="F8FAFF"/>
                </a:solidFill>
                <a:effectLst/>
                <a:latin typeface="DeepSeek-CJK-patch"/>
              </a:rPr>
              <a:t>на </a:t>
            </a:r>
            <a:r>
              <a:rPr lang="en-US" dirty="0"/>
              <a:t>paid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 </a:t>
            </a:r>
            <a:r>
              <a:rPr lang="ru-RU" b="0" i="0" dirty="0">
                <a:solidFill>
                  <a:srgbClr val="F8FAFF"/>
                </a:solidFill>
                <a:effectLst/>
                <a:latin typeface="DeepSeek-CJK-patch"/>
              </a:rPr>
              <a:t>через метод </a:t>
            </a:r>
            <a:r>
              <a:rPr lang="en-US" dirty="0" err="1"/>
              <a:t>updatePaymentStatus</a:t>
            </a:r>
            <a:r>
              <a:rPr lang="en-US" dirty="0"/>
              <a:t>()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3134FF-1705-44B1-A6C1-B7691A03A86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389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87A208-A9B0-7D75-18B4-AD6CED39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313FEA-88AB-F7DF-8614-CFABA2CB7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479522-6BCB-72A0-209A-90179AA3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034A-046B-482E-94C0-22E88DA18B92}" type="datetime1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56C974-4BE2-1D71-2C31-06E31F367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41A9FF-056F-F544-98B1-AA979DB5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100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71B3A4-4118-3A10-163A-EE3C09D69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B1E812-C844-F7DB-E69F-58C470C0F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926A1E-0D9D-74EF-864C-076F6EF92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8E7E-C9D2-4B4E-A4B1-7B1D8BB7EB6A}" type="datetime1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F4A24A-214B-8D3D-DF28-1FA2ECCE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123643-F492-19D1-6873-473DF5D5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220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BCF867-0173-AF78-821D-532157412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40EAA0-EDE3-AEC7-49DD-D4A4A716B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B59575-71C0-D836-E116-4C879753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79B1-500D-48DF-9C5C-845445798B02}" type="datetime1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E68B4D-5721-BEBA-4F43-E441F73F8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A5D781-8E14-02E9-4528-4CE4C4C9A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4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4B84A-97BC-5A3C-349F-1E72D2E83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E4B4B3-23F1-856B-0F35-B32593DB9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2A09EC-9802-FCA5-7EDA-5BEE26DE4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979CCB-28ED-4839-14D4-B11F924AC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CE60-B494-4605-A9E1-F50139DC31FE}" type="datetime1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01152C-C999-0141-C640-621069B36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AD5353-F301-9348-40A1-910F653B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109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BB1159-9D04-F7AA-0512-CF4AA6B1D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EC05E1-F790-E0BE-C4ED-DDEBBFF11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5205BA-F66A-9FD0-F3F2-87A4899E1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8CF24B-6012-00ED-A3D3-7C4950CF19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121D307-840F-531B-8BB8-4CC806E64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4D9A6E9-4687-0A4B-5B4C-F4DA49FE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3B3F1-7E9B-4731-8410-5832D9921504}" type="datetime1">
              <a:rPr lang="ru-RU" smtClean="0"/>
              <a:t>02.06.2025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87C3EEA-A1C1-90AA-8777-B748ED4D3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69C2920-19DB-2BBA-AF27-E7CE5DE6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45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4EEC15-3174-2EC9-76B3-E5F47A5C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A32CA5-3EA0-5220-DA60-D7B1FA5E0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73D8-E15A-4DC1-8608-74F183C31ED2}" type="datetime1">
              <a:rPr lang="ru-RU" smtClean="0"/>
              <a:t>02.06.2025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1B3830-FDBA-E0CF-5D21-45411D28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5379C7-3A28-366A-D39A-DEF95913D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45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9406592-20C5-EC8B-A2B6-ADAA7535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4D7A-BBB6-4CF3-93C8-3A66BD9AE549}" type="datetime1">
              <a:rPr lang="ru-RU" smtClean="0"/>
              <a:t>02.06.2025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5DFF81-9490-DE51-59C1-9ABEB0DFE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1F346D-7228-3C3F-F1A5-7E8FAEDAD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606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DB1119-1791-7337-BC6F-F5513EA1E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F1D46E-E436-1815-7902-DDF239014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CA1329F-F7FF-8457-F9DC-6A6FD9E4D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1D16CE-DFA3-4CC1-1BE8-86247998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79AAF-0A42-471B-BD04-EB4B3D86A010}" type="datetime1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CD0781-263C-4B6E-59EF-C72A21615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4B8C3E-A503-CF15-16F7-BED485B56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9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BDC12-282B-B097-E044-17FD6832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6A88A0B-AE44-E85F-AD58-7FE76EE41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85F743-DF2E-6F46-9A68-371F092F4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931AE0-01D5-6977-E31F-1C3C7EF3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85418-5C01-4B18-B82D-0D0405DBF4D5}" type="datetime1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29C37FD-9D73-B1C3-EB88-C871E3E4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E43B34-EC7E-9560-A794-E748273E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97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F4B45D-079C-1748-A4A8-85F99D4C5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98B04A-2086-4D80-2B13-D37A8B604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EB5271-850B-F6FE-5601-2E860DCEC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0E0DE-A05C-4C10-8295-1529AB03E555}" type="datetime1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4051FA-EF4A-6C46-DB39-27C17EF0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622EE2-A255-7724-6D90-A5591EFE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19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C246844-37DE-ECB1-3867-FA30AE561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7EDD08-5133-17F6-642E-D1BEEDF5C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6BE5AD-B13C-35CF-3B59-2F7EA1AD0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99E0A-5C08-4B42-BCE0-969FA2B201D9}" type="datetime1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BDFF87-FA81-0D43-72D3-007E8D521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97F9C7-296F-69C8-52F4-A0FC75D0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795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8A62F-EEC8-DA76-DD1A-DD8E5EF43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698A5B-CF76-2673-AB86-CEDA0171A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8A6A5D-489A-7661-CA4C-E299DEBF4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BEFB6-D64C-4C80-9492-458FB107018B}" type="datetime1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439FC3-0FDB-B9DD-0D2C-D00A14A7F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F83436-F9E4-09CC-D633-1CB6567A0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42B82-C4F2-4499-BD1B-DCE201ED1C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26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AC67903-E6CB-C035-7E71-432C584E3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" y="2394089"/>
            <a:ext cx="10927080" cy="92418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+mn-lt"/>
              </a:rPr>
              <a:t>Разработка мессенджера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6FDEA-9C86-C17F-5EA6-A6AF89F783C7}"/>
              </a:ext>
            </a:extLst>
          </p:cNvPr>
          <p:cNvSpPr txBox="1"/>
          <p:nvPr/>
        </p:nvSpPr>
        <p:spPr>
          <a:xfrm>
            <a:off x="753533" y="3909060"/>
            <a:ext cx="457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Научный руководитель</a:t>
            </a:r>
            <a:r>
              <a:rPr lang="en-US" sz="2200" dirty="0"/>
              <a:t>:</a:t>
            </a:r>
          </a:p>
          <a:p>
            <a:r>
              <a:rPr lang="ru-RU" sz="2200" dirty="0"/>
              <a:t>старший преподаватель кафедры СП</a:t>
            </a:r>
            <a:endParaRPr lang="en-US" sz="2200" dirty="0"/>
          </a:p>
          <a:p>
            <a:r>
              <a:rPr lang="ru-RU" sz="2200" dirty="0"/>
              <a:t>Л.Н. Петрова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8050F2-D839-DB51-2F19-BF478696DF4A}"/>
              </a:ext>
            </a:extLst>
          </p:cNvPr>
          <p:cNvSpPr txBox="1"/>
          <p:nvPr/>
        </p:nvSpPr>
        <p:spPr>
          <a:xfrm>
            <a:off x="8517467" y="3909060"/>
            <a:ext cx="304207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Автор</a:t>
            </a:r>
            <a:r>
              <a:rPr lang="en-US" sz="2200" dirty="0"/>
              <a:t>:</a:t>
            </a:r>
          </a:p>
          <a:p>
            <a:r>
              <a:rPr lang="ru-RU" sz="2200" dirty="0"/>
              <a:t>студент группы КЭ-342</a:t>
            </a:r>
            <a:endParaRPr lang="en-US" sz="2200" dirty="0"/>
          </a:p>
          <a:p>
            <a:r>
              <a:rPr lang="ru-RU" sz="2200" dirty="0"/>
              <a:t>А.А. Власов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1C703E-1446-8F52-D19C-D768915A347F}"/>
              </a:ext>
            </a:extLst>
          </p:cNvPr>
          <p:cNvSpPr txBox="1"/>
          <p:nvPr/>
        </p:nvSpPr>
        <p:spPr>
          <a:xfrm>
            <a:off x="4874683" y="5977176"/>
            <a:ext cx="24426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Челябинск, 2025 г.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4F896-0FC0-37C3-BFB3-7B74673F82CC}"/>
              </a:ext>
            </a:extLst>
          </p:cNvPr>
          <p:cNvSpPr txBox="1"/>
          <p:nvPr/>
        </p:nvSpPr>
        <p:spPr>
          <a:xfrm>
            <a:off x="1121834" y="325973"/>
            <a:ext cx="99483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МИНИСТЕРСТВО НАУКИ И ВЫСШЕГО ОБРАЗОВАНИЯ РОССИЙСКОЙ ФЕДЕРАЦИИ </a:t>
            </a:r>
          </a:p>
          <a:p>
            <a:pPr algn="ctr"/>
            <a:r>
              <a:rPr lang="ru-RU" dirty="0"/>
              <a:t>Федеральное государственное автономное образовательное учреждение высшего образования</a:t>
            </a:r>
          </a:p>
          <a:p>
            <a:pPr algn="ctr"/>
            <a:r>
              <a:rPr lang="ru-RU" dirty="0"/>
              <a:t>«Южно-Уральский государственный университет (национальный исследовательский университет)» </a:t>
            </a:r>
          </a:p>
          <a:p>
            <a:pPr algn="ctr"/>
            <a:r>
              <a:rPr lang="ru-RU" dirty="0"/>
              <a:t>Высшая школа электроники и компьютерных наук</a:t>
            </a:r>
          </a:p>
          <a:p>
            <a:pPr algn="ctr"/>
            <a:r>
              <a:rPr lang="ru-RU" dirty="0"/>
              <a:t>Кафедра системного программирования </a:t>
            </a:r>
          </a:p>
        </p:txBody>
      </p:sp>
    </p:spTree>
    <p:extLst>
      <p:ext uri="{BB962C8B-B14F-4D97-AF65-F5344CB8AC3E}">
        <p14:creationId xmlns:p14="http://schemas.microsoft.com/office/powerpoint/2010/main" val="230403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86E19-4DE1-9221-C435-50487A623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9257" y="681037"/>
            <a:ext cx="3633486" cy="81549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342596-848C-EE1D-BC8A-2F624F0DE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В условиях стремительного развития цифровых технологий мессенджеры играют ключевую роль в обеспечении быстрой и удобной коммуникации. Они активно используются как в личном, так и в профессиональном общении. Это делает разработку мессенджеров актуальной задачей.</a:t>
            </a:r>
          </a:p>
          <a:p>
            <a:pPr marL="0" indent="0" algn="just">
              <a:buNone/>
            </a:pPr>
            <a:r>
              <a:rPr lang="ru-RU" dirty="0"/>
              <a:t>Создание собственного приложения данного типа позволяет глубже понять принципы работы клиент-серверной архитектуры, освоить технологии сетевого взаимодействия и получить практический опыт в программной инженерии.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078BB9-3E26-56AC-2849-A9BE0B2C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z="1800" smtClean="0"/>
              <a:t>2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622339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98803-8359-007F-B91B-F081B893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+mn-lt"/>
              </a:rPr>
              <a:t>Цель и задачи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367ACB-DF73-F36C-2B8B-F35A4ED12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Цель</a:t>
            </a:r>
            <a:r>
              <a:rPr lang="en-US" b="1" dirty="0"/>
              <a:t>: </a:t>
            </a:r>
          </a:p>
          <a:p>
            <a:pPr marL="0" indent="0">
              <a:buNone/>
            </a:pPr>
            <a:r>
              <a:rPr lang="ru-RU" dirty="0"/>
              <a:t>Разработка клиент-серверного приложения — мессенджера, обеспечивающего обмен текстовыми сообщениями между пользователями в режиме реального времени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ru-RU" b="1" dirty="0"/>
              <a:t>Задачи</a:t>
            </a:r>
            <a:r>
              <a:rPr lang="en-US" b="1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Провести анализ предметной области, включая изучение существующих решений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ru-RU" dirty="0"/>
              <a:t>Спроектировать архитектуру мессенджера, обеспечивающую взаимодействие между компонентами.</a:t>
            </a:r>
          </a:p>
          <a:p>
            <a:pPr marL="514350" indent="-514350">
              <a:buAutoNum type="arabicPeriod"/>
            </a:pPr>
            <a:r>
              <a:rPr lang="ru-RU" dirty="0"/>
              <a:t>Реализовать клиентское приложение с поддержкой регистрации и входа в систему, отправки и получения сообщений в реальном времени, отображения списка пользователей или чатов.</a:t>
            </a:r>
          </a:p>
          <a:p>
            <a:pPr marL="514350" indent="-514350">
              <a:buAutoNum type="arabicPeriod"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3BECA0-BFFE-F6B3-BABB-322DAE37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z="1800" smtClean="0"/>
              <a:t>3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955026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EDF382-AEAF-48D1-A621-B2BF18184AD4}"/>
              </a:ext>
            </a:extLst>
          </p:cNvPr>
          <p:cNvSpPr txBox="1"/>
          <p:nvPr/>
        </p:nvSpPr>
        <p:spPr>
          <a:xfrm>
            <a:off x="2944426" y="372862"/>
            <a:ext cx="6303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3FE092D-318D-95F8-9B9C-B7F61B7F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z="1800" smtClean="0"/>
              <a:t>4</a:t>
            </a:fld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579B0F-3E04-B93B-5D39-A72E2D98B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892" y="896082"/>
            <a:ext cx="10078211" cy="585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6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EDF382-AEAF-48D1-A621-B2BF18184AD4}"/>
              </a:ext>
            </a:extLst>
          </p:cNvPr>
          <p:cNvSpPr txBox="1"/>
          <p:nvPr/>
        </p:nvSpPr>
        <p:spPr>
          <a:xfrm>
            <a:off x="3970021" y="370222"/>
            <a:ext cx="4251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Диаграмма классов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0C58EAB-743F-B153-EAF1-29C8D5CB5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z="1800" smtClean="0"/>
              <a:t>5</a:t>
            </a:fld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6452D2-75DC-D95B-AFD6-896723515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26" y="1016553"/>
            <a:ext cx="10101141" cy="563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13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ADB58E-9529-C569-4FED-4015E04B4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482"/>
            <a:ext cx="9144000" cy="960131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+mn-lt"/>
              </a:rPr>
              <a:t>Диаграмма деятельности «Отправить сообщение»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6E1EECD-D7AC-C43C-CD2C-86EA0CC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z="1800" smtClean="0"/>
              <a:t>6</a:t>
            </a:fld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446C9D-5F3D-7C80-F1DE-BCCE1D48C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36" y="1254613"/>
            <a:ext cx="10078528" cy="549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483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5EE45-B3C2-22B3-2001-A1C4ECC0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710" y="212725"/>
            <a:ext cx="7770579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+mn-lt"/>
              </a:rPr>
              <a:t>Диаграмма последовательности «Отправить сообщение»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636B378-A0FD-FED0-BE2A-C63A0C1C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z="1800" smtClean="0"/>
              <a:t>7</a:t>
            </a:fld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101AAE-06C1-F04F-1725-EF6F8C63A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94" y="1482096"/>
            <a:ext cx="6444210" cy="516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99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E1CC3D-C802-F78B-28A1-4538CBDA6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+mn-lt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E165DD-AFC6-7686-FBF3-179DE0B1E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Разработка мессенджера позволила успешно реализовать основные принципы создания сетевого программного обеспечения. В ходе работы была спроектирована и реализована клиент-серверная система, обеспечивающая регистрацию пользователей, обмен текстовыми сообщениями в реальном времени и базовую защиту данных. Полученные результаты подтвердили работоспособность приложения и его соответствие поставленным задачам.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8A093B-4055-4415-BB2C-BE9CC6EC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42B82-C4F2-4499-BD1B-DCE201ED1CDB}" type="slidenum">
              <a:rPr lang="ru-RU" sz="1800" smtClean="0"/>
              <a:t>8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3521210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663</Words>
  <Application>Microsoft Office PowerPoint</Application>
  <PresentationFormat>Широкоэкранный</PresentationFormat>
  <Paragraphs>46</Paragraphs>
  <Slides>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DeepSeek-CJK-patch</vt:lpstr>
      <vt:lpstr>Times New Roman</vt:lpstr>
      <vt:lpstr>Тема Office</vt:lpstr>
      <vt:lpstr>Разработка мессенджера</vt:lpstr>
      <vt:lpstr>Актуальность</vt:lpstr>
      <vt:lpstr>Цель и задачи исследования</vt:lpstr>
      <vt:lpstr>Презентация PowerPoint</vt:lpstr>
      <vt:lpstr>Презентация PowerPoint</vt:lpstr>
      <vt:lpstr>Диаграмма деятельности «Отправить сообщение»</vt:lpstr>
      <vt:lpstr>Диаграмма последовательности «Отправить сообщение»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Marat Nukhov</dc:creator>
  <cp:lastModifiedBy>Александр Власов</cp:lastModifiedBy>
  <cp:revision>4</cp:revision>
  <dcterms:created xsi:type="dcterms:W3CDTF">2025-05-26T15:45:00Z</dcterms:created>
  <dcterms:modified xsi:type="dcterms:W3CDTF">2025-06-02T10:48:20Z</dcterms:modified>
</cp:coreProperties>
</file>